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7289" y="696962"/>
            <a:ext cx="3669423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SahayakAI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300459" y="1579513"/>
            <a:ext cx="654293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World-Class Pedagogy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17959" y="2116038"/>
            <a:ext cx="55080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Civilizational Intelligence Infrastructure for Rural India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68821" y="2763738"/>
            <a:ext cx="4606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"Transforming Every Rural Teacher into a Super Teacher"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39533" y="3392388"/>
            <a:ext cx="3064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Gupta</a:t>
            </a:r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Founder &amp; CEO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39533" y="3601938"/>
            <a:ext cx="3064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IISc Research Collaboration Proposal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Pedagogy Gap (Research Framing)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the "Quality Paradox" in Rural India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93453"/>
            <a:ext cx="4095750" cy="1589484"/>
          </a:xfrm>
          <a:prstGeom prst="roundRect">
            <a:avLst>
              <a:gd name="adj" fmla="val 4794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456879"/>
            <a:ext cx="389925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Instructional Quality Disparity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7475" y="1767929"/>
            <a:ext cx="389925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Elite: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hrs/week high-fidelity instructional time.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475" y="2000250"/>
            <a:ext cx="389925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Rural/Govt: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&lt;2 hrs/week high-fidelity instructional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7475" y="2232571"/>
            <a:ext cx="389925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 Enrollment is achieved, but cognitive outcomes remain stagnant due to "Resource Poverty".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7250" y="1193453"/>
            <a:ext cx="4095750" cy="1944737"/>
          </a:xfrm>
          <a:prstGeom prst="roundRect">
            <a:avLst>
              <a:gd name="adj" fmla="val 3918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03725" y="1456879"/>
            <a:ext cx="389925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Teacher Bandwidth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3725" y="1767929"/>
            <a:ext cx="389925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prep requires 45 mins/lesson. Rural teachers have &lt;15 mins due to administrative load.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3725" y="2232571"/>
            <a:ext cx="3822799" cy="66764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827538" y="2232571"/>
            <a:ext cx="0" cy="667643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2851" y="2384822"/>
            <a:ext cx="364361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Voice-first Edge AI can bridge the bandwidth gap via automated contextualization.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1000" y="4157365"/>
            <a:ext cx="838200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000" y="4276279"/>
            <a:ext cx="85496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SahayakAI Internal Research / NEP 2020 Framework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Innovation: Edge-AI &amp; Offline Mesh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Works Where the Internet Doesn't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93453"/>
            <a:ext cx="8382000" cy="2191196"/>
          </a:xfrm>
          <a:prstGeom prst="roundRect">
            <a:avLst>
              <a:gd name="adj" fmla="val 3478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456879"/>
            <a:ext cx="8271230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Offline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7475" y="1767929"/>
            <a:ext cx="82712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from "Cloud-Dependent" to "Edge-Sovereign" AI for critical infrastructure: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7475" y="2025700"/>
            <a:ext cx="8109049" cy="533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Caching Layer: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68% cache hit rate for pedagogical queries.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2.0 Flash Optimization: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Quantized execution for 2GB RAM devices.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PWA: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Resilient functionality with background synchronization.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7475" y="2660600"/>
            <a:ext cx="8109049" cy="48607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1288" y="2660600"/>
            <a:ext cx="0" cy="486073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601" y="2812852"/>
            <a:ext cx="801559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Industry-first offline workflow for Generative AI in low-resource settings.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1000" y="4157365"/>
            <a:ext cx="838200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4276279"/>
            <a:ext cx="85496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Specs: Vertex AI / NeMo Guardrails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"Bharat-First" Context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Beyond Simple Translation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8902"/>
            <a:ext cx="417766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Localization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29953"/>
            <a:ext cx="417766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abstract concepts to local student realities (e.g., gravity via coconuts, not apples).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1994595"/>
            <a:ext cx="4095750" cy="737592"/>
          </a:xfrm>
          <a:prstGeom prst="roundRect">
            <a:avLst>
              <a:gd name="adj" fmla="val 10331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7475" y="2181820"/>
            <a:ext cx="389925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Focus: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Zero-shot localization and cross-lingual transfer for 22 Indic languages.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7250" y="1218902"/>
            <a:ext cx="417766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7250" y="1529953"/>
            <a:ext cx="4095750" cy="6858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50k+ culturally contextual mappings in DB.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Voice-As-Code: Translating spoken vernacular to structured pedagogy.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field transcription accuracy.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1000" y="4157365"/>
            <a:ext cx="838200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" y="4276279"/>
            <a:ext cx="85496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area: Multilingual LLM Distortion Mitigation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The Karnataka Pilot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Results from Raichur and Gulbarga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93453"/>
            <a:ext cx="2692301" cy="751731"/>
          </a:xfrm>
          <a:prstGeom prst="roundRect">
            <a:avLst>
              <a:gd name="adj" fmla="val 10137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3282" y="1329928"/>
            <a:ext cx="2467737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 ⮕ 5m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3282" y="1660178"/>
            <a:ext cx="246773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Optimization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25701" y="1193453"/>
            <a:ext cx="2692450" cy="751731"/>
          </a:xfrm>
          <a:prstGeom prst="roundRect">
            <a:avLst>
              <a:gd name="adj" fmla="val 10137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37981" y="1329928"/>
            <a:ext cx="246788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900k+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37981" y="1660178"/>
            <a:ext cx="24678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Unlocked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70550" y="1193453"/>
            <a:ext cx="2692450" cy="751731"/>
          </a:xfrm>
          <a:prstGeom prst="roundRect">
            <a:avLst>
              <a:gd name="adj" fmla="val 10137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82831" y="1329928"/>
            <a:ext cx="246788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82831" y="1660178"/>
            <a:ext cx="24678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110085"/>
            <a:ext cx="8382000" cy="1505396"/>
          </a:xfrm>
          <a:prstGeom prst="roundRect">
            <a:avLst>
              <a:gd name="adj" fmla="val 5062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475" y="2373511"/>
            <a:ext cx="8271230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Framework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7475" y="2684562"/>
            <a:ext cx="82712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an "Outcomes-Based Framework" correlating AI-assisted prep with student engagement.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7475" y="2929533"/>
            <a:ext cx="8109049" cy="48607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1288" y="2929533"/>
            <a:ext cx="0" cy="486073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601" y="3081784"/>
            <a:ext cx="801559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150+ teachers verified with 92% curriculum alignment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Collaboration Opportunities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Partnering for Academic Rigor and Systemic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93453"/>
            <a:ext cx="8382000" cy="1320552"/>
          </a:xfrm>
          <a:prstGeom prst="roundRect">
            <a:avLst>
              <a:gd name="adj" fmla="val 5770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456879"/>
            <a:ext cx="8271230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Joint Research Areas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7475" y="1767929"/>
            <a:ext cx="8109049" cy="5334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Indic-LLM Fine-tuning: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Dialect support with AI4Bharat.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Inference optimization on low-cost hardware.</a:t>
            </a:r>
            <a:endParaRPr lang="en-US" sz="1050" dirty="0"/>
          </a:p>
          <a:p>
            <a:pPr algn="l" marL="114300" indent="-1143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AI:</a:t>
            </a:r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Impact of AI scaffolding on rural retention.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717006"/>
            <a:ext cx="8382000" cy="48607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2717006"/>
            <a:ext cx="0" cy="486073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126" y="2869257"/>
            <a:ext cx="829400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Offering anonymized classroom data sets (50k+ interactions) for pedagogical research.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000" y="4157365"/>
            <a:ext cx="838200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000" y="4276279"/>
            <a:ext cx="85496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abhishek@sahayakai.in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Toward a National Infrastructure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1000" y="726877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Civilizational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8902"/>
            <a:ext cx="417766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(2026)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529953"/>
            <a:ext cx="417766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in Karnataka (5,000 teachers). Finalizing research MoUs.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1000" y="2020044"/>
            <a:ext cx="417766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(2027)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331095"/>
            <a:ext cx="417766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to UP/WB. National integration with DIKSHA.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7250" y="1193453"/>
            <a:ext cx="4095750" cy="1357164"/>
          </a:xfrm>
          <a:prstGeom prst="roundRect">
            <a:avLst>
              <a:gd name="adj" fmla="val 5615"/>
            </a:avLst>
          </a:prstGeom>
          <a:solidFill>
            <a:srgbClr val="FDFDFD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03725" y="1456879"/>
            <a:ext cx="3899255" cy="234851"/>
          </a:xfrm>
          <a:prstGeom prst="rect">
            <a:avLst/>
          </a:prstGeom>
          <a:noFill/>
          <a:ln/>
        </p:spPr>
        <p:txBody>
          <a:bodyPr wrap="square" lIns="0" tIns="0" rIns="0" bIns="2540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2030 Knowledge Graph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3725" y="1767929"/>
            <a:ext cx="389925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India-native knowledge graph for native pedagogical reasoning.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3725" y="2181820"/>
            <a:ext cx="389925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Target:</a:t>
            </a:r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5M Teachers, 150M Students.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1000" y="4157365"/>
            <a:ext cx="8382000" cy="0"/>
          </a:xfrm>
          <a:prstGeom prst="line">
            <a:avLst/>
          </a:prstGeom>
          <a:noFill/>
          <a:ln w="9525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00" y="4276279"/>
            <a:ext cx="85496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Sovereign AI for India's Educational Future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7522" y="871538"/>
            <a:ext cx="564895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76"/>
              </a:spcBef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747522" y="1509713"/>
            <a:ext cx="5648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i="1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"Building the Cognitive Backbone of Indian Education."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02904" y="2157413"/>
            <a:ext cx="5538192" cy="10668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CFD8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51547" y="2395538"/>
            <a:ext cx="5240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 Gupta</a:t>
            </a:r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Founder &amp; CEO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51547" y="2605088"/>
            <a:ext cx="5240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abhishek@sahayakai.in | +91 6363740720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51547" y="2814638"/>
            <a:ext cx="5240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747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linkedin.com/in/sargupta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47522" y="3732163"/>
            <a:ext cx="5648956" cy="777776"/>
          </a:xfrm>
          <a:prstGeom prst="rect">
            <a:avLst/>
          </a:prstGeom>
          <a:noFill/>
          <a:ln/>
        </p:spPr>
        <p:txBody>
          <a:bodyPr wrap="square" lIns="0" tIns="0" rIns="0" bIns="6350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IISc Research Collaboration • Bangalore,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SahayakAI Master Introduction</dc:title>
  <dc:subject>SahayakAI IISc Research Collaboration Deck</dc:subject>
  <dc:creator>Abhishek Gupta</dc:creator>
  <cp:lastModifiedBy>Abhishek Gupta</cp:lastModifiedBy>
  <cp:revision>1</cp:revision>
  <dcterms:created xsi:type="dcterms:W3CDTF">2026-02-09T14:30:00Z</dcterms:created>
  <dcterms:modified xsi:type="dcterms:W3CDTF">2026-02-09T14:30:00Z</dcterms:modified>
</cp:coreProperties>
</file>